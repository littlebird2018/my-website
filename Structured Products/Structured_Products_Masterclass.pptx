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4EC82-C0E0-149C-BB37-FDF8E4BBDC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sz="5400" dirty="0"/>
              <a:t>Structured Products &amp; Derivatives Masterclass</a:t>
            </a:r>
            <a:br>
              <a:rPr lang="en-GB" sz="5400" dirty="0"/>
            </a:br>
            <a:endParaRPr lang="en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AFEF5-4380-E3DC-BEFE-17C44BCDF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2-Day classroom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6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br>
              <a:rPr lang="en-GB" sz="3200" dirty="0"/>
            </a:br>
            <a:br>
              <a:rPr lang="en-US" sz="3200" dirty="0"/>
            </a:br>
            <a:r>
              <a:rPr lang="en-US" sz="3200" dirty="0"/>
              <a:t>Course Architecture</a:t>
            </a:r>
            <a:br>
              <a:rPr lang="en-US" sz="3200" dirty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Target Audience: Wealth Managers, Relationship Managers, and Priority Banking Advisors.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dirty="0"/>
              <a:t>Core Objective: Translate institutional financial engineering into clear, everyday client value propositions.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The Structural Formula:</a:t>
            </a:r>
          </a:p>
          <a:p>
            <a:r>
              <a:rPr dirty="0"/>
              <a:t>- </a:t>
            </a:r>
            <a:r>
              <a:rPr sz="2600" dirty="0"/>
              <a:t>Zero-Coupon Bond (The Safety Engine): Guarantees 100% principal protection at maturity.</a:t>
            </a:r>
          </a:p>
          <a:p>
            <a:r>
              <a:rPr sz="2600" dirty="0"/>
              <a:t>- Embedded Options (The Yield Engine): Funded by the cash discount from the upfront bond purchase.</a:t>
            </a:r>
          </a:p>
          <a:p>
            <a:r>
              <a:rPr sz="2600" dirty="0"/>
              <a:t>- Credit vs. Market Risk: Differentiating between issuer default risk and underlying market price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Day 1 — Linear vs. Non-Linear Payoffs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Capital Protected Notes (CPNs):</a:t>
            </a:r>
          </a:p>
          <a:p>
            <a:r>
              <a:rPr dirty="0"/>
              <a:t>- Architecture: Zero-coupon bond + long market call option or call spread.</a:t>
            </a:r>
          </a:p>
          <a:p>
            <a:r>
              <a:rPr dirty="0"/>
              <a:t>- Participation Factor: Dictating how much market growth is captured.</a:t>
            </a:r>
          </a:p>
          <a:p>
            <a:r>
              <a:rPr dirty="0"/>
              <a:t>- Target: Conservative, risk-averse investors needing equity exposure.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Yield Enhancement Structures:</a:t>
            </a:r>
          </a:p>
          <a:p>
            <a:r>
              <a:rPr dirty="0"/>
              <a:t>- Architecture: Investor buys a note and simultaneously writes a put option.</a:t>
            </a:r>
          </a:p>
          <a:p>
            <a:r>
              <a:rPr dirty="0"/>
              <a:t>- Monetization: Converting tail-risk into fixed cash coupon premiums.</a:t>
            </a:r>
          </a:p>
          <a:p>
            <a:r>
              <a:rPr dirty="0"/>
              <a:t>- Physical Delivery: Mechanics of strike breach and physical stock delivery.</a:t>
            </a:r>
          </a:p>
          <a:p>
            <a:r>
              <a:rPr dirty="0"/>
              <a:t>- Workshop: </a:t>
            </a:r>
            <a:r>
              <a:rPr dirty="0" err="1"/>
              <a:t>RMs</a:t>
            </a:r>
            <a:r>
              <a:rPr dirty="0"/>
              <a:t> practice sketching option payoff charts by hand.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Day 2 — Advanced Exotics &amp; Volatility Engines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 err="1"/>
              <a:t>Autocallable</a:t>
            </a:r>
            <a:r>
              <a:rPr dirty="0"/>
              <a:t> Frameworks:</a:t>
            </a:r>
          </a:p>
          <a:p>
            <a:r>
              <a:rPr dirty="0"/>
              <a:t>- Express &amp; Phoenix mechanics (observations, knock-outs, coupon memory).</a:t>
            </a:r>
          </a:p>
          <a:p>
            <a:r>
              <a:rPr dirty="0"/>
              <a:t>- Barriers: American (intra-trade) vs. European (maturity-only) performance variance.</a:t>
            </a:r>
          </a:p>
          <a:p>
            <a:r>
              <a:rPr dirty="0"/>
              <a:t>- Worst-Of Baskets: Impact of multiple uncorrelated underliers on coupon and risk.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The 3 Coupon Levers:</a:t>
            </a:r>
          </a:p>
          <a:p>
            <a:r>
              <a:rPr dirty="0"/>
              <a:t>- Implied Volatility: Higher fear = larger coupon yields.</a:t>
            </a:r>
          </a:p>
          <a:p>
            <a:r>
              <a:rPr dirty="0"/>
              <a:t>- Dividend Yields: Aggressive dividends lower option costs.</a:t>
            </a:r>
          </a:p>
          <a:p>
            <a:r>
              <a:rPr dirty="0"/>
              <a:t>- Asset Correlation: Low correlation forces higher premium payouts.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Commercial Advisory &amp; The Live Pitch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dirty="0"/>
              <a:t>ranslating 'The Greeks' for Clients:</a:t>
            </a:r>
          </a:p>
          <a:p>
            <a:r>
              <a:rPr dirty="0"/>
              <a:t>- Delta &amp; Gamma -&gt; Sensitivity &amp; Acceleration (tracking underlying movements).</a:t>
            </a:r>
          </a:p>
          <a:p>
            <a:r>
              <a:rPr dirty="0"/>
              <a:t>- Vega -&gt; Volatility Pricing Shocks (secondary market exit pricing).</a:t>
            </a:r>
          </a:p>
          <a:p>
            <a:r>
              <a:rPr dirty="0"/>
              <a:t>- Theta -&gt; Time Decay Bleeding (erosion as note nears expiration).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Secondary Market &amp; Advisory:</a:t>
            </a:r>
          </a:p>
          <a:p>
            <a:r>
              <a:rPr dirty="0"/>
              <a:t>- The Day-One Paper Drop: Managing client expectations on upfront fees.</a:t>
            </a:r>
          </a:p>
          <a:p>
            <a:r>
              <a:rPr dirty="0"/>
              <a:t>- Liquidity: Institutional market-making parameters.</a:t>
            </a:r>
          </a:p>
          <a:p>
            <a:r>
              <a:rPr dirty="0"/>
              <a:t>- Advisory Simulation: Pitching live structures, focusing on failure scenarios and managing expectations.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388</Words>
  <Application>Microsoft Office PowerPoint</Application>
  <PresentationFormat>On-screen Show (4:3)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Structured Products &amp; Derivatives Masterclass </vt:lpstr>
      <vt:lpstr>  Course Architecture </vt:lpstr>
      <vt:lpstr>Day 1 — Linear vs. Non-Linear Payoffs</vt:lpstr>
      <vt:lpstr>Day 2 — Advanced Exotics &amp; Volatility Engines</vt:lpstr>
      <vt:lpstr>Commercial Advisory &amp; The Live Pitch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Lilan LI</cp:lastModifiedBy>
  <cp:revision>5</cp:revision>
  <dcterms:created xsi:type="dcterms:W3CDTF">2013-01-27T09:14:16Z</dcterms:created>
  <dcterms:modified xsi:type="dcterms:W3CDTF">2026-06-21T12:22:28Z</dcterms:modified>
  <cp:category/>
</cp:coreProperties>
</file>